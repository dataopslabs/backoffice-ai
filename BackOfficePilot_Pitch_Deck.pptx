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48640"/>
            <a:ext cx="164592" cy="164592"/>
          </a:xfrm>
          <a:prstGeom prst="ellipse">
            <a:avLst/>
          </a:prstGeom>
          <a:solidFill>
            <a:srgbClr val="CADCFC">
              <a:alpha val="48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548640"/>
            <a:ext cx="164592" cy="164592"/>
          </a:xfrm>
          <a:prstGeom prst="ellipse">
            <a:avLst/>
          </a:prstGeom>
          <a:solidFill>
            <a:srgbClr val="CADCFC">
              <a:alpha val="56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548640"/>
            <a:ext cx="164592" cy="164592"/>
          </a:xfrm>
          <a:prstGeom prst="ellipse">
            <a:avLst/>
          </a:prstGeom>
          <a:solidFill>
            <a:srgbClr val="CADCFC">
              <a:alpha val="64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548640"/>
            <a:ext cx="164592" cy="164592"/>
          </a:xfrm>
          <a:prstGeom prst="ellipse">
            <a:avLst/>
          </a:prstGeom>
          <a:solidFill>
            <a:srgbClr val="CADCFC">
              <a:alpha val="72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548640"/>
            <a:ext cx="164592" cy="164592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Agents for the BFSI Back-Office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097280" cy="0"/>
          </a:xfrm>
          <a:prstGeom prst="line">
            <a:avLst/>
          </a:prstGeom>
          <a:noFill/>
          <a:ln w="3810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reasons. Amazon Nova Act acts.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</a:t>
            </a:r>
            <a:pPr indent="0" marL="0">
              <a:buNone/>
            </a:pPr>
            <a:r>
              <a:rPr lang="en-US" sz="14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Founder  ·  May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application · Anthropic × AWS Agentic AI Accelerator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mid-market BFSI back-office is bleeding money no one is fixing.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73152" cy="2560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operating payroll consumed by manual back-office workflows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1828800"/>
            <a:ext cx="365760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1688" y="1828800"/>
            <a:ext cx="73152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$15–$60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90288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 for a single KYC review at a mid-sized bank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66176" y="1828800"/>
            <a:ext cx="365760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1828800"/>
            <a:ext cx="73152" cy="256032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94776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attrition in BFSI operations roles — knowledge walks out the door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wave of automation failed this customer.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Big-4 consultants leave nothing behind. RPA is brittle and seat-priced. Copilots help humans type faster but don’t own the work. Generalist agent startups hallucinate on compliance.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three preconditions clicked into place in the last 6 months.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5448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2057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Compliance-grade reasoning at $5/$25 per million tokens. A full audit-ready decision costs ~$0.04. Cheap enough to run in a loop.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Act (GA Dec 2025)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UI agent at $4.75 / agent-hour. The first reliable executor with cloud-scale SLAs. Browser + desktop.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55448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BFSI mandate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5074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exams, margin pressure, ageing ops staff. CFOs have a board-level mandate to cut back-office cost-to-serve 20% without weakening compliance.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insight: split the brain.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expensive, slow, smart. Execution is cheap, fast, dumb. Use the right model for each job.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3657600"/>
          </a:xfrm>
          <a:prstGeom prst="rect">
            <a:avLst/>
          </a:prstGeom>
          <a:solidFill>
            <a:srgbClr val="07153A"/>
          </a:solidFill>
          <a:ln w="19050">
            <a:solidFill>
              <a:srgbClr val="F9C8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109728" cy="365760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 —  Reasoner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policies, decides edge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workflow as structured 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exceptions; writes audit narrative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~$0.04 per run · cached prompt prefixes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286000"/>
            <a:ext cx="5394960" cy="3657600"/>
          </a:xfrm>
          <a:prstGeom prst="rect">
            <a:avLst/>
          </a:prstGeom>
          <a:solidFill>
            <a:srgbClr val="07153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2286000"/>
            <a:ext cx="10972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Act  —  Executor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11112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33832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clicks, types, downloads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ERPs, banking portals, lending CRMs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UI decomposition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$4.75 / agent-hour · production SLA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like: one agent, end-to-end, unattended.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workflow: daily invoice reconciliation for a $5B-asset community bank.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3657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103120" cy="457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cron fires. Opus reads the policy bundle (cached).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2103120" cy="3657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828800"/>
            <a:ext cx="2103120" cy="457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+0:04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278892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produces 5-step plan with success criteria. JSON-schema validated.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2103120" cy="3657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828800"/>
            <a:ext cx="2103120" cy="457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Act logs into bank portal + NetSuite. Pulls 47 transactions, 89 invoices.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2103120" cy="3657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828800"/>
            <a:ext cx="2103120" cy="457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+2:20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runs three-way match. 41 clean, 6 exceptions. Posts journal entries via Nova Act.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0" y="1828800"/>
            <a:ext cx="2103120" cy="3657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1828800"/>
            <a:ext cx="2103120" cy="457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+5:45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escalate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38360" y="278892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run report generated. 6 exceptions to Slack with one-click approvals.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715000"/>
            <a:ext cx="11274552" cy="5943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transactions reconciled in 5:45  ·  $0.73 per run  ·  vs. $11.67 of human labor  ·  21× ROI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 deterministic orchestrator between two purpose-built models.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3657600" cy="118872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 · plan, decide, narrate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· prompt cache · JSON-schema enforced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59752" y="1463040"/>
            <a:ext cx="36576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192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51192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· UI automation at scale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51192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desktop · self-correcting · sandboxed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2130552" cy="0"/>
          </a:xfrm>
          <a:prstGeom prst="line">
            <a:avLst/>
          </a:prstGeom>
          <a:noFill/>
          <a:ln w="19050">
            <a:solidFill>
              <a:srgbClr val="0B1F4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0" y="17830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3200400"/>
            <a:ext cx="6702552" cy="91440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246120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·  Plan → Execute → Reconcile → Commit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3657600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· cost ceilings · circuit breakers · escalation routing · audit hash chain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265176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· versioned · reviewable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4572000"/>
            <a:ext cx="265176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WORM · SHA-256 chain · KMS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572000"/>
            <a:ext cx="265176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systems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· banking portals · email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4572000"/>
            <a:ext cx="265176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· SLA timers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customer: from queue-runners to exception specialists.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3949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status quo back-office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FTE queue-runners doing the same task all 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grows linearly with transaction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 = checklists, screenshots, email trails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is a quarterly fire drill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lives in senior staff’s heads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in ops is at all-time lows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463040"/>
            <a:ext cx="53949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6792" y="1463040"/>
            <a:ext cx="53949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519672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12 months with BackOfficePilot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1112" y="201168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FTE exception team + 2–3 person agent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scales; agent grows with it; humans don’t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reasoning trace — auditor-ready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audit, not seasonal prep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versioned in markdown, reviewed quarterly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staff work hard cases full-time; attrition recovers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a focused wedge with compound expansion.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3657600" cy="32918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$6.94B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$12.46B by 2031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automation market. BFSI leads at 34.4% share. Invoice reconciliation only — our MVP workflow.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657600" cy="32918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$35.3B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36008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$247.3B by 2035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RPA market, agentic AI absorbing share. KYC, loan ops, regulatory filing — our next 4 workflows.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66176" y="1554480"/>
            <a:ext cx="3657600" cy="32918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4" name="Text 12"/>
          <p:cNvSpPr/>
          <p:nvPr/>
        </p:nvSpPr>
        <p:spPr>
          <a:xfrm>
            <a:off x="854049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ENDGAME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0496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~$200B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540496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annual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0496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labor cost of mid-market back-office workflows across BFSI, insurance, healthcare RCM. The replaceable base.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7455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need to win the whole RPA market.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1% of the AP automation market by 2031 = $125M ARR.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services-as-software with outcome alignment.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proof of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workflow. Refundable against year-one outcome fees. De-risks the buyer.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554480"/>
            <a:ext cx="3657600" cy="5486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90288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documented labor savings, monthly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alignment with the CFO’s P&amp;L. Drops to 15% after year 2.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5544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554480"/>
            <a:ext cx="3657600" cy="54864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7" name="Text 15"/>
          <p:cNvSpPr/>
          <p:nvPr/>
        </p:nvSpPr>
        <p:spPr>
          <a:xfrm>
            <a:off x="8494776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94776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494776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 / 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94776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maintenance. Volume discount past 5 workflows per customer.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745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one workflow.  Expand with the library.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workflow adds $50K–$300K ACV. Target net revenue retention &gt;150% by Year 3 — the math behind the best vertical SaaS comps.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landscape: every option leaves the mid-market BFSI buyer behind.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0" cy="4389120"/>
          </a:xfrm>
          <a:prstGeom prst="line">
            <a:avLst/>
          </a:prstGeom>
          <a:noFill/>
          <a:ln w="19050">
            <a:solidFill>
              <a:srgbClr val="0B1F4D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371600" y="6035040"/>
            <a:ext cx="9875520" cy="0"/>
          </a:xfrm>
          <a:prstGeom prst="line">
            <a:avLst/>
          </a:prstGeom>
          <a:noFill/>
          <a:ln w="19050">
            <a:solidFill>
              <a:srgbClr val="0B1F4D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DEPTH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 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13648" y="4773168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6840" y="4773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/ AA / Blue Prism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5212080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5512" y="5212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Power Automate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9664" y="4553712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45537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(SAP, NetSuite)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4334256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4334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 agent startups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57216" y="3236976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3236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Flowscope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3675888"/>
            <a:ext cx="329184" cy="32918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675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0" y="2359152"/>
            <a:ext cx="329184" cy="329184"/>
          </a:xfrm>
          <a:prstGeom prst="ellipse">
            <a:avLst/>
          </a:prstGeom>
          <a:solidFill>
            <a:srgbClr val="F9C846"/>
          </a:solidFill>
          <a:ln w="254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4392" y="23591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founder-led pilots → repeatable wedge → channel.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74552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109728" cy="132588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0–6 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design partners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600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pilots: 1 community bank, 1 regional insurer/broker, 1 growth-stage fintech. Free or deeply-discounted. Convert 2 to paid by month 6. Source via accelerator network + cold CFO outreach.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1274552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109728" cy="132588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6–18 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0632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the reconciliation workflow. Standardized 5-day deploy. Outcome-priced. Reference customers in two BFSI sub-segments. $1M ARR by month 18.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389120"/>
            <a:ext cx="109728" cy="132588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18–36 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workflow library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45262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vendor partnerships (NetSuite SuiteApp, Sage marketplace). Independent reps in 3 regions. Workflow library expansion. $5M+ ARR with NRR &gt;150%.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3 weeks to demo, 12 months to series-A-ready.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74552" cy="18288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SPRINT (NOW)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Bedrock + Nova Act keys. Sandbox systems. Skeleton end-to-end run.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34256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4256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34256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logic. Real NetSuite + bank automation. Exception handling. &lt;$1/run.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28432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28432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+ Pitch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2843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unattended run. Demo video. Accelerator application. 3 customer calls.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265176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1480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’26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cohort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kickoff. 2 paid pilots underway. First reference customer.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4114800"/>
            <a:ext cx="265176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11480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’26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YC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SAFE. Founding Engineer + Customer Engineer hired. $250K ARR.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114800"/>
            <a:ext cx="265176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11480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’27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complete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productized. KYC workflow in pilot. $750K ARR run-rate.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4114800"/>
            <a:ext cx="265176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411480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’27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9828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$4–6M led by fintech / B2B SaaS specialist. 8 customers. $1.5M ARR.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 · Multi-Model Agents for BFSI Back-Office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5394960" cy="4206240"/>
          </a:xfrm>
          <a:prstGeom prst="rect">
            <a:avLst/>
          </a:prstGeom>
          <a:solidFill>
            <a:srgbClr val="07153A"/>
          </a:solidFill>
          <a:ln w="19050">
            <a:solidFill>
              <a:srgbClr val="F9C8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AWS AGENTIC AI ACCELERATOR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credits — Nova Act + Bedrock + infra · 12-month runway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credits — Claude Opus 4.6 inference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Office hours with Nova Act PM team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Anthropic solution-architect reviews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Warm intros to 2 BFSI prospects via AWS sales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Demo day showcase slot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245352" y="1554480"/>
            <a:ext cx="5394960" cy="4206240"/>
          </a:xfrm>
          <a:prstGeom prst="rect">
            <a:avLst/>
          </a:prstGeom>
          <a:solidFill>
            <a:srgbClr val="07153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COMBINATOR (NEXT BATCH)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8232" y="20574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YC investment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Founder salary + Founding Engineer hire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Founding Customer Engineer for first pilots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Compliance (SOC 2 prep, security audit)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YC network access to BFSI buyers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Demo day for seed investors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 one working agent, two paid pilots, a co-marketable case study, and a place in the cohort that defines the agentic era.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BackOfficePilot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 thesis is also the founding thesis.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 with the right tools ships what a 10-person consultancy used to take six months to deliver.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74552" cy="1645920"/>
          </a:xfrm>
          <a:prstGeom prst="rect">
            <a:avLst/>
          </a:prstGeom>
          <a:solidFill>
            <a:srgbClr val="0715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0"/>
            <a:ext cx="109728" cy="164592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  ·  Founder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building BackOfficePilot. Hiring plan post-accelerator: Founding Engineer (Nova Act + infra) and Founding Customer Engineer (Opus prompting + customer implementation).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 BackOfficePilot is the operating layer for every regulated mid-market back-office — a library of dozens of workflows, each delivered as a leave-behind agent, each producing audit-grade evidence at a cost per transaction the customer’s internal team can never match. The mid-market back-office as a labor category disappears, replaced by a smaller, more interesting exception team supervising a fleet of agents.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  ·  jayyanar@gmail.com  ·  backofficepilot.ai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BackOfficePilot — Multi-Model Agents for BFSI Back-Office</dc:title>
  <dc:subject>PptxGenJS Presentation</dc:subject>
  <dc:creator>AJ</dc:creator>
  <cp:lastModifiedBy>AJ</cp:lastModifiedBy>
  <cp:revision>1</cp:revision>
  <dcterms:created xsi:type="dcterms:W3CDTF">2026-05-18T19:14:32Z</dcterms:created>
  <dcterms:modified xsi:type="dcterms:W3CDTF">2026-05-18T19:14:32Z</dcterms:modified>
</cp:coreProperties>
</file>